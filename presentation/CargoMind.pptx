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63" r:id="rId12"/>
    <p:sldId id="264" r:id="rId13"/>
    <p:sldId id="265" r:id="rId14"/>
    <p:sldId id="266" r:id="rId15"/>
  </p:sldIdLst>
  <p:sldSz cx="12192000" cy="6858000"/>
  <p:notesSz cx="6858000" cy="12192000"/>
  <p:embeddedFontLs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6F343B-41C0-43A6-ACEF-13EDB6457E4A}" v="1" dt="2026-09-15T13:04:59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HI PATEL" userId="00a01b1a4e95ac24" providerId="LiveId" clId="{960C4D45-05EE-440B-8176-7D10C21C8CB9}"/>
    <pc:docChg chg="undo custSel addSld modSld">
      <pc:chgData name="KHUSHI PATEL" userId="00a01b1a4e95ac24" providerId="LiveId" clId="{960C4D45-05EE-440B-8176-7D10C21C8CB9}" dt="2026-09-15T13:53:04.414" v="71" actId="1076"/>
      <pc:docMkLst>
        <pc:docMk/>
      </pc:docMkLst>
      <pc:sldChg chg="addSp delSp modSp mod">
        <pc:chgData name="KHUSHI PATEL" userId="00a01b1a4e95ac24" providerId="LiveId" clId="{960C4D45-05EE-440B-8176-7D10C21C8CB9}" dt="2026-09-15T13:05:19.466" v="27" actId="478"/>
        <pc:sldMkLst>
          <pc:docMk/>
          <pc:sldMk cId="0" sldId="262"/>
        </pc:sldMkLst>
        <pc:spChg chg="mod">
          <ac:chgData name="KHUSHI PATEL" userId="00a01b1a4e95ac24" providerId="LiveId" clId="{960C4D45-05EE-440B-8176-7D10C21C8CB9}" dt="2026-09-15T13:04:08.309" v="0" actId="20577"/>
          <ac:spMkLst>
            <pc:docMk/>
            <pc:sldMk cId="0" sldId="262"/>
            <ac:spMk id="39" creationId="{00000000-0000-0000-0000-000000000000}"/>
          </ac:spMkLst>
        </pc:spChg>
        <pc:spChg chg="del mod">
          <ac:chgData name="KHUSHI PATEL" userId="00a01b1a4e95ac24" providerId="LiveId" clId="{960C4D45-05EE-440B-8176-7D10C21C8CB9}" dt="2026-09-15T13:04:14.027" v="2" actId="478"/>
          <ac:spMkLst>
            <pc:docMk/>
            <pc:sldMk cId="0" sldId="262"/>
            <ac:spMk id="40" creationId="{00000000-0000-0000-0000-000000000000}"/>
          </ac:spMkLst>
        </pc:spChg>
        <pc:spChg chg="del mod">
          <ac:chgData name="KHUSHI PATEL" userId="00a01b1a4e95ac24" providerId="LiveId" clId="{960C4D45-05EE-440B-8176-7D10C21C8CB9}" dt="2026-09-15T13:04:17.822" v="4" actId="478"/>
          <ac:spMkLst>
            <pc:docMk/>
            <pc:sldMk cId="0" sldId="262"/>
            <ac:spMk id="42" creationId="{00000000-0000-0000-0000-000000000000}"/>
          </ac:spMkLst>
        </pc:spChg>
        <pc:spChg chg="del">
          <ac:chgData name="KHUSHI PATEL" userId="00a01b1a4e95ac24" providerId="LiveId" clId="{960C4D45-05EE-440B-8176-7D10C21C8CB9}" dt="2026-09-15T13:04:43.891" v="14" actId="478"/>
          <ac:spMkLst>
            <pc:docMk/>
            <pc:sldMk cId="0" sldId="262"/>
            <ac:spMk id="44" creationId="{00000000-0000-0000-0000-000000000000}"/>
          </ac:spMkLst>
        </pc:spChg>
        <pc:spChg chg="del mod">
          <ac:chgData name="KHUSHI PATEL" userId="00a01b1a4e95ac24" providerId="LiveId" clId="{960C4D45-05EE-440B-8176-7D10C21C8CB9}" dt="2026-09-15T13:04:40.024" v="12" actId="478"/>
          <ac:spMkLst>
            <pc:docMk/>
            <pc:sldMk cId="0" sldId="262"/>
            <ac:spMk id="46" creationId="{00000000-0000-0000-0000-000000000000}"/>
          </ac:spMkLst>
        </pc:spChg>
        <pc:spChg chg="del">
          <ac:chgData name="KHUSHI PATEL" userId="00a01b1a4e95ac24" providerId="LiveId" clId="{960C4D45-05EE-440B-8176-7D10C21C8CB9}" dt="2026-09-15T13:04:47.611" v="16" actId="478"/>
          <ac:spMkLst>
            <pc:docMk/>
            <pc:sldMk cId="0" sldId="262"/>
            <ac:spMk id="48" creationId="{00000000-0000-0000-0000-000000000000}"/>
          </ac:spMkLst>
        </pc:spChg>
        <pc:spChg chg="mod">
          <ac:chgData name="KHUSHI PATEL" userId="00a01b1a4e95ac24" providerId="LiveId" clId="{960C4D45-05EE-440B-8176-7D10C21C8CB9}" dt="2026-09-15T13:04:52.278" v="17" actId="20577"/>
          <ac:spMkLst>
            <pc:docMk/>
            <pc:sldMk cId="0" sldId="262"/>
            <ac:spMk id="50" creationId="{00000000-0000-0000-0000-000000000000}"/>
          </ac:spMkLst>
        </pc:spChg>
        <pc:spChg chg="add del mod">
          <ac:chgData name="KHUSHI PATEL" userId="00a01b1a4e95ac24" providerId="LiveId" clId="{960C4D45-05EE-440B-8176-7D10C21C8CB9}" dt="2026-09-15T13:05:12.323" v="25"/>
          <ac:spMkLst>
            <pc:docMk/>
            <pc:sldMk cId="0" sldId="262"/>
            <ac:spMk id="52" creationId="{44E43706-3688-C50F-BFAB-D9EAE3DBFDD0}"/>
          </ac:spMkLst>
        </pc:spChg>
        <pc:graphicFrameChg chg="del modGraphic">
          <ac:chgData name="KHUSHI PATEL" userId="00a01b1a4e95ac24" providerId="LiveId" clId="{960C4D45-05EE-440B-8176-7D10C21C8CB9}" dt="2026-09-15T13:05:19.466" v="27" actId="478"/>
          <ac:graphicFrameMkLst>
            <pc:docMk/>
            <pc:sldMk cId="0" sldId="262"/>
            <ac:graphicFrameMk id="43" creationId="{00000000-0000-0000-0000-000000000000}"/>
          </ac:graphicFrameMkLst>
        </pc:graphicFrameChg>
        <pc:graphicFrameChg chg="del modGraphic">
          <ac:chgData name="KHUSHI PATEL" userId="00a01b1a4e95ac24" providerId="LiveId" clId="{960C4D45-05EE-440B-8176-7D10C21C8CB9}" dt="2026-09-15T13:05:17.208" v="26" actId="478"/>
          <ac:graphicFrameMkLst>
            <pc:docMk/>
            <pc:sldMk cId="0" sldId="262"/>
            <ac:graphicFrameMk id="47" creationId="{00000000-0000-0000-0000-000000000000}"/>
          </ac:graphicFrameMkLst>
        </pc:graphicFrameChg>
        <pc:graphicFrameChg chg="del mod modGraphic">
          <ac:chgData name="KHUSHI PATEL" userId="00a01b1a4e95ac24" providerId="LiveId" clId="{960C4D45-05EE-440B-8176-7D10C21C8CB9}" dt="2026-09-15T13:05:12.321" v="23" actId="478"/>
          <ac:graphicFrameMkLst>
            <pc:docMk/>
            <pc:sldMk cId="0" sldId="262"/>
            <ac:graphicFrameMk id="51" creationId="{00000000-0000-0000-0000-000000000000}"/>
          </ac:graphicFrameMkLst>
        </pc:graphicFrameChg>
        <pc:picChg chg="del">
          <ac:chgData name="KHUSHI PATEL" userId="00a01b1a4e95ac24" providerId="LiveId" clId="{960C4D45-05EE-440B-8176-7D10C21C8CB9}" dt="2026-09-15T13:04:20.749" v="5" actId="478"/>
          <ac:picMkLst>
            <pc:docMk/>
            <pc:sldMk cId="0" sldId="262"/>
            <ac:picMk id="41" creationId="{00000000-0000-0000-0000-000000000000}"/>
          </ac:picMkLst>
        </pc:picChg>
        <pc:picChg chg="del">
          <ac:chgData name="KHUSHI PATEL" userId="00a01b1a4e95ac24" providerId="LiveId" clId="{960C4D45-05EE-440B-8176-7D10C21C8CB9}" dt="2026-09-15T13:04:45.569" v="15" actId="478"/>
          <ac:picMkLst>
            <pc:docMk/>
            <pc:sldMk cId="0" sldId="262"/>
            <ac:picMk id="45" creationId="{00000000-0000-0000-0000-000000000000}"/>
          </ac:picMkLst>
        </pc:picChg>
        <pc:picChg chg="del">
          <ac:chgData name="KHUSHI PATEL" userId="00a01b1a4e95ac24" providerId="LiveId" clId="{960C4D45-05EE-440B-8176-7D10C21C8CB9}" dt="2026-09-15T13:04:54.834" v="18" actId="478"/>
          <ac:picMkLst>
            <pc:docMk/>
            <pc:sldMk cId="0" sldId="262"/>
            <ac:picMk id="49" creationId="{00000000-0000-0000-0000-000000000000}"/>
          </ac:picMkLst>
        </pc:picChg>
      </pc:sldChg>
      <pc:sldChg chg="addSp delSp modSp new mod">
        <pc:chgData name="KHUSHI PATEL" userId="00a01b1a4e95ac24" providerId="LiveId" clId="{960C4D45-05EE-440B-8176-7D10C21C8CB9}" dt="2026-09-15T13:52:00.647" v="54" actId="1076"/>
        <pc:sldMkLst>
          <pc:docMk/>
          <pc:sldMk cId="2236765432" sldId="267"/>
        </pc:sldMkLst>
        <pc:picChg chg="add del mod">
          <ac:chgData name="KHUSHI PATEL" userId="00a01b1a4e95ac24" providerId="LiveId" clId="{960C4D45-05EE-440B-8176-7D10C21C8CB9}" dt="2026-09-15T13:06:04.103" v="30" actId="931"/>
          <ac:picMkLst>
            <pc:docMk/>
            <pc:sldMk cId="2236765432" sldId="267"/>
            <ac:picMk id="3" creationId="{9B3A4FCE-8900-1D1F-3291-8A11E98280B7}"/>
          </ac:picMkLst>
        </pc:picChg>
        <pc:picChg chg="add del mod">
          <ac:chgData name="KHUSHI PATEL" userId="00a01b1a4e95ac24" providerId="LiveId" clId="{960C4D45-05EE-440B-8176-7D10C21C8CB9}" dt="2026-09-15T13:06:04.103" v="30" actId="931"/>
          <ac:picMkLst>
            <pc:docMk/>
            <pc:sldMk cId="2236765432" sldId="267"/>
            <ac:picMk id="5" creationId="{70D36D89-EA09-1140-1583-DEA7602BC176}"/>
          </ac:picMkLst>
        </pc:picChg>
        <pc:picChg chg="add del mod">
          <ac:chgData name="KHUSHI PATEL" userId="00a01b1a4e95ac24" providerId="LiveId" clId="{960C4D45-05EE-440B-8176-7D10C21C8CB9}" dt="2026-09-15T13:06:04.103" v="30" actId="931"/>
          <ac:picMkLst>
            <pc:docMk/>
            <pc:sldMk cId="2236765432" sldId="267"/>
            <ac:picMk id="7" creationId="{B7CBD3F6-8D5F-3E61-8A35-A13E86A1EBAC}"/>
          </ac:picMkLst>
        </pc:picChg>
        <pc:picChg chg="add del mod">
          <ac:chgData name="KHUSHI PATEL" userId="00a01b1a4e95ac24" providerId="LiveId" clId="{960C4D45-05EE-440B-8176-7D10C21C8CB9}" dt="2026-09-15T13:06:04.103" v="30" actId="931"/>
          <ac:picMkLst>
            <pc:docMk/>
            <pc:sldMk cId="2236765432" sldId="267"/>
            <ac:picMk id="9" creationId="{9763EC07-063B-7B79-F464-6912600FDCC5}"/>
          </ac:picMkLst>
        </pc:picChg>
        <pc:picChg chg="add del mod">
          <ac:chgData name="KHUSHI PATEL" userId="00a01b1a4e95ac24" providerId="LiveId" clId="{960C4D45-05EE-440B-8176-7D10C21C8CB9}" dt="2026-09-15T13:06:04.103" v="30" actId="931"/>
          <ac:picMkLst>
            <pc:docMk/>
            <pc:sldMk cId="2236765432" sldId="267"/>
            <ac:picMk id="11" creationId="{D2C2812E-D429-2C50-8B0D-929999C12865}"/>
          </ac:picMkLst>
        </pc:picChg>
        <pc:picChg chg="add del mod">
          <ac:chgData name="KHUSHI PATEL" userId="00a01b1a4e95ac24" providerId="LiveId" clId="{960C4D45-05EE-440B-8176-7D10C21C8CB9}" dt="2026-09-15T13:06:04.103" v="30" actId="931"/>
          <ac:picMkLst>
            <pc:docMk/>
            <pc:sldMk cId="2236765432" sldId="267"/>
            <ac:picMk id="13" creationId="{DB8AEE55-1320-A73E-6959-4792AA710863}"/>
          </ac:picMkLst>
        </pc:picChg>
        <pc:picChg chg="add del mod">
          <ac:chgData name="KHUSHI PATEL" userId="00a01b1a4e95ac24" providerId="LiveId" clId="{960C4D45-05EE-440B-8176-7D10C21C8CB9}" dt="2026-09-15T13:51:07.336" v="35" actId="478"/>
          <ac:picMkLst>
            <pc:docMk/>
            <pc:sldMk cId="2236765432" sldId="267"/>
            <ac:picMk id="15" creationId="{93ED7A6A-6554-2030-2085-FC800FCA81C1}"/>
          </ac:picMkLst>
        </pc:picChg>
        <pc:picChg chg="add mod">
          <ac:chgData name="KHUSHI PATEL" userId="00a01b1a4e95ac24" providerId="LiveId" clId="{960C4D45-05EE-440B-8176-7D10C21C8CB9}" dt="2026-09-15T13:51:34.381" v="43" actId="14100"/>
          <ac:picMkLst>
            <pc:docMk/>
            <pc:sldMk cId="2236765432" sldId="267"/>
            <ac:picMk id="17" creationId="{393D499F-5377-9071-DEF0-0F8967E7E932}"/>
          </ac:picMkLst>
        </pc:picChg>
        <pc:picChg chg="add mod">
          <ac:chgData name="KHUSHI PATEL" userId="00a01b1a4e95ac24" providerId="LiveId" clId="{960C4D45-05EE-440B-8176-7D10C21C8CB9}" dt="2026-09-15T13:52:00.647" v="54" actId="1076"/>
          <ac:picMkLst>
            <pc:docMk/>
            <pc:sldMk cId="2236765432" sldId="267"/>
            <ac:picMk id="19" creationId="{31C2BAED-C4DA-8463-663A-307204BBF936}"/>
          </ac:picMkLst>
        </pc:picChg>
      </pc:sldChg>
      <pc:sldChg chg="addSp modSp new mod">
        <pc:chgData name="KHUSHI PATEL" userId="00a01b1a4e95ac24" providerId="LiveId" clId="{960C4D45-05EE-440B-8176-7D10C21C8CB9}" dt="2026-09-15T13:52:45.921" v="66" actId="1076"/>
        <pc:sldMkLst>
          <pc:docMk/>
          <pc:sldMk cId="1789253997" sldId="268"/>
        </pc:sldMkLst>
        <pc:picChg chg="add mod">
          <ac:chgData name="KHUSHI PATEL" userId="00a01b1a4e95ac24" providerId="LiveId" clId="{960C4D45-05EE-440B-8176-7D10C21C8CB9}" dt="2026-09-15T13:52:25.022" v="59" actId="1076"/>
          <ac:picMkLst>
            <pc:docMk/>
            <pc:sldMk cId="1789253997" sldId="268"/>
            <ac:picMk id="3" creationId="{0B69B422-799E-6C8E-FB28-3327DEE3A6C1}"/>
          </ac:picMkLst>
        </pc:picChg>
        <pc:picChg chg="add mod">
          <ac:chgData name="KHUSHI PATEL" userId="00a01b1a4e95ac24" providerId="LiveId" clId="{960C4D45-05EE-440B-8176-7D10C21C8CB9}" dt="2026-09-15T13:52:45.921" v="66" actId="1076"/>
          <ac:picMkLst>
            <pc:docMk/>
            <pc:sldMk cId="1789253997" sldId="268"/>
            <ac:picMk id="5" creationId="{C4BA25FF-29EC-CB76-9A0F-4EBF753C9D5B}"/>
          </ac:picMkLst>
        </pc:picChg>
      </pc:sldChg>
      <pc:sldChg chg="addSp modSp new mod">
        <pc:chgData name="KHUSHI PATEL" userId="00a01b1a4e95ac24" providerId="LiveId" clId="{960C4D45-05EE-440B-8176-7D10C21C8CB9}" dt="2026-09-15T13:53:04.414" v="71" actId="1076"/>
        <pc:sldMkLst>
          <pc:docMk/>
          <pc:sldMk cId="3903709172" sldId="269"/>
        </pc:sldMkLst>
        <pc:picChg chg="add mod">
          <ac:chgData name="KHUSHI PATEL" userId="00a01b1a4e95ac24" providerId="LiveId" clId="{960C4D45-05EE-440B-8176-7D10C21C8CB9}" dt="2026-09-15T13:53:04.414" v="71" actId="1076"/>
          <ac:picMkLst>
            <pc:docMk/>
            <pc:sldMk cId="3903709172" sldId="269"/>
            <ac:picMk id="3" creationId="{F0468C86-FCB8-535F-05F7-9C6C88EDAE7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4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ShipTriage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Supply Chain Disruption Decision Support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81980"/>
            <a:ext cx="10868745" cy="27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BoB AI Innovation Hackathon 2026</a:t>
            </a:r>
            <a:endParaRPr lang="en-US" sz="7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 CargoMind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454" y="1414959"/>
            <a:ext cx="6356786" cy="57086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88615" y="1909294"/>
            <a:ext cx="2369344" cy="30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DISRUPTION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088615" y="2301930"/>
            <a:ext cx="2369344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supply chain interruption affecting shipments.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79329" y="5688416"/>
            <a:ext cx="229479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TRIAGE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679329" y="6081052"/>
            <a:ext cx="2294792" cy="55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impact, prioritize issues, and allocate resources.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16163" y="2732437"/>
            <a:ext cx="229479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716163" y="3125073"/>
            <a:ext cx="2294792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mitigation actions and route recovery plans.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88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075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disruption happens, the hard part is deciding what to do next.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22550"/>
            <a:ext cx="2575357" cy="258157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5650" y="2792611"/>
            <a:ext cx="22680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5881" y="3378498"/>
            <a:ext cx="21465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Disruption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75881" y="3787180"/>
            <a:ext cx="214654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disruption can affect multiple shipments.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839" y="2622550"/>
            <a:ext cx="2575456" cy="258157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0113" y="2792611"/>
            <a:ext cx="226808" cy="22681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640245" y="3378498"/>
            <a:ext cx="2146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Identification</a:t>
            </a:r>
            <a:endParaRPr lang="en-US" sz="1850" dirty="0"/>
          </a:p>
        </p:txBody>
      </p:sp>
      <p:sp>
        <p:nvSpPr>
          <p:cNvPr id="11" name="Text 5"/>
          <p:cNvSpPr/>
          <p:nvPr/>
        </p:nvSpPr>
        <p:spPr>
          <a:xfrm>
            <a:off x="3640245" y="4082455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 need to identify which shipments are affected.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622550"/>
            <a:ext cx="2575456" cy="2581573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4576" y="2792611"/>
            <a:ext cx="226808" cy="22681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404708" y="3378498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Different Urgency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6404708" y="3787180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every affected shipment has the same priority.</a:t>
            </a:r>
            <a:endParaRPr lang="en-US" sz="14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4764" y="2622550"/>
            <a:ext cx="2575456" cy="2581573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9038" y="2792611"/>
            <a:ext cx="226808" cy="22681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169171" y="3378498"/>
            <a:ext cx="2146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Rerouting Trade-offs</a:t>
            </a:r>
            <a:endParaRPr lang="en-US" sz="1850" dirty="0"/>
          </a:p>
        </p:txBody>
      </p:sp>
      <p:sp>
        <p:nvSpPr>
          <p:cNvPr id="19" name="Text 9"/>
          <p:cNvSpPr/>
          <p:nvPr/>
        </p:nvSpPr>
        <p:spPr>
          <a:xfrm>
            <a:off x="9169171" y="4082455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Rerouting decisions involve delay, cost, SLA, and feasibility trade-offs.</a:t>
            </a:r>
            <a:endParaRPr lang="en-US" sz="1450" dirty="0"/>
          </a:p>
        </p:txBody>
      </p:sp>
      <p:sp>
        <p:nvSpPr>
          <p:cNvPr id="20" name="Text 10"/>
          <p:cNvSpPr/>
          <p:nvPr/>
        </p:nvSpPr>
        <p:spPr>
          <a:xfrm>
            <a:off x="661475" y="541674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 need a structured decision process to move from disruption to action.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62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70335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Disruption → Triage → Decision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661475" y="266898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ShipTriage helps a logistics operations manager move from a disruption event to a documented routing decision.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184029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6832" y="3379391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3535263"/>
            <a:ext cx="255085" cy="2550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6832" y="413543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 IMPACT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4544120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affected shipments and surface relevant shipment details.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47359" y="3184029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42716" y="3379391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3535263"/>
            <a:ext cx="255085" cy="2550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2716" y="413543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PRIORITIZE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4542716" y="4544120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an explainable rule-based priority score.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033244" y="3184029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8600" y="3379391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4568" y="3535263"/>
            <a:ext cx="255085" cy="2550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8600" y="413543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DECIDE &amp; LOG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8228600" y="4544120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rerouting options, review a recommendation, approve or override it, and log the decision.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61475" y="58593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manager remains in control of the final decision.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606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11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It Works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0344"/>
            <a:ext cx="2173729" cy="744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7505" y="2407741"/>
            <a:ext cx="180166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Disruption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7505" y="2808288"/>
            <a:ext cx="180166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enters the workflow.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204" y="1480344"/>
            <a:ext cx="2173729" cy="744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21235" y="2407741"/>
            <a:ext cx="1801668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Affected Shipments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021235" y="3098998"/>
            <a:ext cx="1801668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shipments impacted by the disruption.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933" y="1480344"/>
            <a:ext cx="2173729" cy="744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94964" y="2407741"/>
            <a:ext cx="1801668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Priority Ranking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5194964" y="3098998"/>
            <a:ext cx="1801668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shipments using explainable rules.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2662" y="1480344"/>
            <a:ext cx="2173729" cy="7442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68693" y="2407741"/>
            <a:ext cx="1801668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Rerouting Options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7368693" y="3098998"/>
            <a:ext cx="1801668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simulated alternatives.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6392" y="1480344"/>
            <a:ext cx="2173828" cy="7442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42422" y="2407741"/>
            <a:ext cx="1801767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Recommendation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9542422" y="3389709"/>
            <a:ext cx="180176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the preferred option.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75" y="4048224"/>
            <a:ext cx="2173729" cy="7442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7505" y="4975622"/>
            <a:ext cx="1801668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6. Approve / Override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847505" y="5666879"/>
            <a:ext cx="1801668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makes the final decision.</a:t>
            </a:r>
            <a:endParaRPr lang="en-US" sz="11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5204" y="4048224"/>
            <a:ext cx="2173729" cy="7442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021235" y="4975622"/>
            <a:ext cx="180166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 Decision Log</a:t>
            </a:r>
            <a:endParaRPr lang="en-US" sz="1800" dirty="0"/>
          </a:p>
        </p:txBody>
      </p:sp>
      <p:sp>
        <p:nvSpPr>
          <p:cNvPr id="23" name="Text 14"/>
          <p:cNvSpPr/>
          <p:nvPr/>
        </p:nvSpPr>
        <p:spPr>
          <a:xfrm>
            <a:off x="3021235" y="5376168"/>
            <a:ext cx="1801668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decision for traceability.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5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Shipment Prioritization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22165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Explainable Rule-Based Priority Scoring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1475" y="2654498"/>
            <a:ext cx="1860702" cy="236240"/>
          </a:xfrm>
          <a:prstGeom prst="roundRect">
            <a:avLst>
              <a:gd name="adj" fmla="val 336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654498"/>
            <a:ext cx="744221" cy="236240"/>
          </a:xfrm>
          <a:prstGeom prst="roundRect">
            <a:avLst>
              <a:gd name="adj" fmla="val 33605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2663858" y="2654498"/>
            <a:ext cx="5375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126879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SLA Urgency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3437645" y="2654498"/>
            <a:ext cx="1868044" cy="236240"/>
          </a:xfrm>
          <a:prstGeom prst="roundRect">
            <a:avLst>
              <a:gd name="adj" fmla="val 336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37645" y="2654498"/>
            <a:ext cx="560373" cy="236240"/>
          </a:xfrm>
          <a:prstGeom prst="roundRect">
            <a:avLst>
              <a:gd name="adj" fmla="val 33605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447370" y="2654498"/>
            <a:ext cx="5303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30%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437645" y="312687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Importance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213915" y="2654498"/>
            <a:ext cx="1871814" cy="236240"/>
          </a:xfrm>
          <a:prstGeom prst="roundRect">
            <a:avLst>
              <a:gd name="adj" fmla="val 336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3915" y="2654498"/>
            <a:ext cx="374343" cy="236240"/>
          </a:xfrm>
          <a:prstGeom prst="roundRect">
            <a:avLst>
              <a:gd name="adj" fmla="val 33605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7410" y="2654498"/>
            <a:ext cx="52654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213915" y="312687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Cargo Criticality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8990184" y="2654498"/>
            <a:ext cx="1918743" cy="236240"/>
          </a:xfrm>
          <a:prstGeom prst="roundRect">
            <a:avLst>
              <a:gd name="adj" fmla="val 336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90184" y="2654498"/>
            <a:ext cx="191785" cy="236240"/>
          </a:xfrm>
          <a:prstGeom prst="roundRect">
            <a:avLst>
              <a:gd name="adj" fmla="val 41394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11050609" y="2654498"/>
            <a:ext cx="4796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10%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990184" y="312687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Shipment Value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61475" y="370562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Tiers</a:t>
            </a:r>
            <a:endParaRPr lang="en-US" sz="2950" dirty="0"/>
          </a:p>
        </p:txBody>
      </p:sp>
      <p:sp>
        <p:nvSpPr>
          <p:cNvPr id="21" name="Shape 19"/>
          <p:cNvSpPr/>
          <p:nvPr/>
        </p:nvSpPr>
        <p:spPr>
          <a:xfrm>
            <a:off x="661475" y="4461570"/>
            <a:ext cx="10868745" cy="685998"/>
          </a:xfrm>
          <a:prstGeom prst="roundRect">
            <a:avLst>
              <a:gd name="adj" fmla="val 115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825" y="4467920"/>
            <a:ext cx="3618616" cy="673298"/>
          </a:xfrm>
          <a:custGeom>
            <a:avLst/>
            <a:gdLst/>
            <a:ahLst/>
            <a:cxnLst/>
            <a:rect l="l" t="t" r="r" b="b"/>
            <a:pathLst>
              <a:path w="3618616" h="673298">
                <a:moveTo>
                  <a:pt x="66156" y="0"/>
                </a:moveTo>
                <a:lnTo>
                  <a:pt x="3618616" y="0"/>
                </a:lnTo>
                <a:lnTo>
                  <a:pt x="3618616" y="673298"/>
                </a:lnTo>
                <a:lnTo>
                  <a:pt x="66156" y="673298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23" name="Text 21"/>
          <p:cNvSpPr/>
          <p:nvPr/>
        </p:nvSpPr>
        <p:spPr>
          <a:xfrm>
            <a:off x="856832" y="4656931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4286440" y="4467920"/>
            <a:ext cx="3618715" cy="67329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25" name="Shape 23"/>
          <p:cNvSpPr/>
          <p:nvPr/>
        </p:nvSpPr>
        <p:spPr>
          <a:xfrm>
            <a:off x="4286440" y="4467920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26" name="Text 24"/>
          <p:cNvSpPr/>
          <p:nvPr/>
        </p:nvSpPr>
        <p:spPr>
          <a:xfrm>
            <a:off x="4475447" y="465693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1850" dirty="0"/>
          </a:p>
        </p:txBody>
      </p:sp>
      <p:sp>
        <p:nvSpPr>
          <p:cNvPr id="27" name="Shape 25"/>
          <p:cNvSpPr/>
          <p:nvPr/>
        </p:nvSpPr>
        <p:spPr>
          <a:xfrm>
            <a:off x="7905155" y="4467920"/>
            <a:ext cx="3618715" cy="673298"/>
          </a:xfrm>
          <a:custGeom>
            <a:avLst/>
            <a:gdLst/>
            <a:ahLst/>
            <a:cxnLst/>
            <a:rect l="l" t="t" r="r" b="b"/>
            <a:pathLst>
              <a:path w="3618715" h="673298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607140"/>
                </a:lnTo>
                <a:arcTo wR="66156" hR="66158" stAng="0" swAng="5400000"/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28" name="Shape 26"/>
          <p:cNvSpPr/>
          <p:nvPr/>
        </p:nvSpPr>
        <p:spPr>
          <a:xfrm>
            <a:off x="7905155" y="4467920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29" name="Text 27"/>
          <p:cNvSpPr/>
          <p:nvPr/>
        </p:nvSpPr>
        <p:spPr>
          <a:xfrm>
            <a:off x="8094162" y="465693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661475" y="5360194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ML model is used for this scoring.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719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10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Rerouting &amp; Recommendation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09502"/>
            <a:ext cx="114783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options using the information that matters to the decision.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61475" y="1897063"/>
            <a:ext cx="87112" cy="8711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909218" y="1804491"/>
            <a:ext cx="176535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Estimated delay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875287" y="1897063"/>
            <a:ext cx="87112" cy="8711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3123030" y="1804491"/>
            <a:ext cx="176545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Estimated cost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89199" y="1897063"/>
            <a:ext cx="87112" cy="8711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336942" y="1804491"/>
            <a:ext cx="1765454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SLA met / not met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03111" y="1897063"/>
            <a:ext cx="87112" cy="8711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7550854" y="1804491"/>
            <a:ext cx="176545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517023" y="1897063"/>
            <a:ext cx="87112" cy="8711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764766" y="1804491"/>
            <a:ext cx="176535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Shipment priority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529483"/>
          <a:ext cx="10868746" cy="2391210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3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Route A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Route B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Route C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Delay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Moderate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$$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$$$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SLA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Missed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Feasible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135860"/>
            <a:ext cx="174224" cy="1742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475" y="5391249"/>
            <a:ext cx="2596688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3"/>
          <p:cNvSpPr/>
          <p:nvPr/>
        </p:nvSpPr>
        <p:spPr>
          <a:xfrm>
            <a:off x="661475" y="5516463"/>
            <a:ext cx="259668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Compare Options</a:t>
            </a:r>
            <a:endParaRPr lang="en-US" sz="17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8794" y="5135860"/>
            <a:ext cx="174224" cy="17422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18794" y="5391249"/>
            <a:ext cx="2596688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0" name="Text 15"/>
          <p:cNvSpPr/>
          <p:nvPr/>
        </p:nvSpPr>
        <p:spPr>
          <a:xfrm>
            <a:off x="3418794" y="5516463"/>
            <a:ext cx="259668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</a:t>
            </a:r>
            <a:endParaRPr lang="en-US" sz="17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6113" y="5135860"/>
            <a:ext cx="174224" cy="17422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76113" y="5391249"/>
            <a:ext cx="2596688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17"/>
          <p:cNvSpPr/>
          <p:nvPr/>
        </p:nvSpPr>
        <p:spPr>
          <a:xfrm>
            <a:off x="6176113" y="5516463"/>
            <a:ext cx="259668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Manager Review</a:t>
            </a:r>
            <a:endParaRPr lang="en-US" sz="17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3433" y="5135860"/>
            <a:ext cx="174224" cy="17422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8933433" y="5391249"/>
            <a:ext cx="2596787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19"/>
          <p:cNvSpPr/>
          <p:nvPr/>
        </p:nvSpPr>
        <p:spPr>
          <a:xfrm>
            <a:off x="8933433" y="5516463"/>
            <a:ext cx="259678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 / Override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661475" y="6099969"/>
            <a:ext cx="114783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recommendation supports the manager; it does not replace the manager.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871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 / User Journey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94817"/>
            <a:ext cx="162417" cy="16242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1631553"/>
            <a:ext cx="206211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1750814"/>
            <a:ext cx="206211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Disruption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2088356"/>
            <a:ext cx="206211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3084" y="1394817"/>
            <a:ext cx="162417" cy="16242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63084" y="1631553"/>
            <a:ext cx="206211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5"/>
          <p:cNvSpPr/>
          <p:nvPr/>
        </p:nvSpPr>
        <p:spPr>
          <a:xfrm>
            <a:off x="2863084" y="1750814"/>
            <a:ext cx="206211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Analyse Impact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2863084" y="2088356"/>
            <a:ext cx="206211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4693" y="1394817"/>
            <a:ext cx="162417" cy="16242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064693" y="1631553"/>
            <a:ext cx="206221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8"/>
          <p:cNvSpPr/>
          <p:nvPr/>
        </p:nvSpPr>
        <p:spPr>
          <a:xfrm>
            <a:off x="5064693" y="1750814"/>
            <a:ext cx="206221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Affected Shipments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064693" y="2088356"/>
            <a:ext cx="2062210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6401" y="1394817"/>
            <a:ext cx="162417" cy="162421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266401" y="1631553"/>
            <a:ext cx="206211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1"/>
          <p:cNvSpPr/>
          <p:nvPr/>
        </p:nvSpPr>
        <p:spPr>
          <a:xfrm>
            <a:off x="7266401" y="1750814"/>
            <a:ext cx="206211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266401" y="2088356"/>
            <a:ext cx="206211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8010" y="1394817"/>
            <a:ext cx="162417" cy="162421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468010" y="1631553"/>
            <a:ext cx="206211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4"/>
          <p:cNvSpPr/>
          <p:nvPr/>
        </p:nvSpPr>
        <p:spPr>
          <a:xfrm>
            <a:off x="9468010" y="1750814"/>
            <a:ext cx="206211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Shipment Details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9468010" y="2088356"/>
            <a:ext cx="206211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2563118"/>
            <a:ext cx="162417" cy="162421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61475" y="2799854"/>
            <a:ext cx="279601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5" name="Text 17"/>
          <p:cNvSpPr/>
          <p:nvPr/>
        </p:nvSpPr>
        <p:spPr>
          <a:xfrm>
            <a:off x="661475" y="2919115"/>
            <a:ext cx="279601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Rerouting Options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661475" y="3256657"/>
            <a:ext cx="2796014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96987" y="2563118"/>
            <a:ext cx="162417" cy="16242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3596987" y="2799854"/>
            <a:ext cx="279601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9" name="Text 20"/>
          <p:cNvSpPr/>
          <p:nvPr/>
        </p:nvSpPr>
        <p:spPr>
          <a:xfrm>
            <a:off x="3596987" y="2919115"/>
            <a:ext cx="279601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</a:t>
            </a:r>
            <a:endParaRPr lang="en-US" sz="1550" dirty="0"/>
          </a:p>
        </p:txBody>
      </p:sp>
      <p:sp>
        <p:nvSpPr>
          <p:cNvPr id="30" name="Text 21"/>
          <p:cNvSpPr/>
          <p:nvPr/>
        </p:nvSpPr>
        <p:spPr>
          <a:xfrm>
            <a:off x="3596987" y="3256657"/>
            <a:ext cx="2796014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2498" y="2563118"/>
            <a:ext cx="162417" cy="162421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6532498" y="2799854"/>
            <a:ext cx="242911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3" name="Text 23"/>
          <p:cNvSpPr/>
          <p:nvPr/>
        </p:nvSpPr>
        <p:spPr>
          <a:xfrm>
            <a:off x="6532498" y="2919115"/>
            <a:ext cx="242911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 / Override</a:t>
            </a:r>
            <a:endParaRPr lang="en-US" sz="1550" dirty="0"/>
          </a:p>
        </p:txBody>
      </p:sp>
      <p:sp>
        <p:nvSpPr>
          <p:cNvPr id="34" name="Text 24"/>
          <p:cNvSpPr/>
          <p:nvPr/>
        </p:nvSpPr>
        <p:spPr>
          <a:xfrm>
            <a:off x="6532498" y="3256657"/>
            <a:ext cx="242911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10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01108" y="2563118"/>
            <a:ext cx="162417" cy="162421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9101108" y="2799854"/>
            <a:ext cx="2429013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7" name="Text 26"/>
          <p:cNvSpPr/>
          <p:nvPr/>
        </p:nvSpPr>
        <p:spPr>
          <a:xfrm>
            <a:off x="9101108" y="2919115"/>
            <a:ext cx="242901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Log</a:t>
            </a:r>
            <a:endParaRPr lang="en-US" sz="1550" dirty="0"/>
          </a:p>
        </p:txBody>
      </p:sp>
      <p:sp>
        <p:nvSpPr>
          <p:cNvPr id="38" name="Text 27"/>
          <p:cNvSpPr/>
          <p:nvPr/>
        </p:nvSpPr>
        <p:spPr>
          <a:xfrm>
            <a:off x="9101108" y="3256657"/>
            <a:ext cx="2429013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661475" y="3728641"/>
            <a:ext cx="11478330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endParaRPr lang="en-US" sz="1000" dirty="0"/>
          </a:p>
        </p:txBody>
      </p:sp>
      <p:sp>
        <p:nvSpPr>
          <p:cNvPr id="50" name="Text 34"/>
          <p:cNvSpPr/>
          <p:nvPr/>
        </p:nvSpPr>
        <p:spPr>
          <a:xfrm>
            <a:off x="8749486" y="4402038"/>
            <a:ext cx="2630918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93D499F-5377-9071-DEF0-0F8967E7E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42900"/>
            <a:ext cx="5580211" cy="25933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C2BAED-C4DA-8463-663A-307204BBF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342640"/>
            <a:ext cx="5761110" cy="290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65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69B422-799E-6C8E-FB28-3327DEE3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658" y="360680"/>
            <a:ext cx="5700889" cy="256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BA25FF-29EC-CB76-9A0F-4EBF753C9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298" y="3429000"/>
            <a:ext cx="6205477" cy="295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53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68C86-FCB8-535F-05F7-9C6C88EDA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1303020"/>
            <a:ext cx="8858250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09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02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9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10481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separation between the runtime stack and development support.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831479"/>
            <a:ext cx="6365517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Runtime Stack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60166"/>
            <a:ext cx="2032148" cy="95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0915" y="3373140"/>
            <a:ext cx="1713267" cy="747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Logistics Operations Manager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160" y="2520950"/>
            <a:ext cx="2032148" cy="952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87600" y="3133923"/>
            <a:ext cx="17132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 Frontend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845" y="2281734"/>
            <a:ext cx="2032148" cy="952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54285" y="2894707"/>
            <a:ext cx="1713267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Node.js + Express API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892973"/>
            <a:ext cx="2032148" cy="952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0915" y="5505946"/>
            <a:ext cx="1713267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Rule-Based Decision Engine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160" y="4653756"/>
            <a:ext cx="2032148" cy="9525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987600" y="5266730"/>
            <a:ext cx="17132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 Database</a:t>
            </a:r>
            <a:endParaRPr lang="en-US" sz="1550" dirty="0"/>
          </a:p>
        </p:txBody>
      </p:sp>
      <p:sp>
        <p:nvSpPr>
          <p:cNvPr id="15" name="Shape 8"/>
          <p:cNvSpPr/>
          <p:nvPr/>
        </p:nvSpPr>
        <p:spPr>
          <a:xfrm>
            <a:off x="7307576" y="1696938"/>
            <a:ext cx="4343787" cy="4618038"/>
          </a:xfrm>
          <a:prstGeom prst="roundRect">
            <a:avLst>
              <a:gd name="adj" fmla="val 2644"/>
            </a:avLst>
          </a:prstGeom>
          <a:solidFill>
            <a:srgbClr val="EAF3FA"/>
          </a:solidFill>
          <a:ln/>
        </p:spPr>
      </p:sp>
      <p:sp>
        <p:nvSpPr>
          <p:cNvPr id="16" name="Text 9"/>
          <p:cNvSpPr/>
          <p:nvPr/>
        </p:nvSpPr>
        <p:spPr>
          <a:xfrm>
            <a:off x="7467016" y="1831479"/>
            <a:ext cx="4024906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Support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7467016" y="2264966"/>
            <a:ext cx="4634491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BoB supports development and SDLC tasks only.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016" y="2843609"/>
            <a:ext cx="1945135" cy="952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626457" y="3456583"/>
            <a:ext cx="162625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IBM BoB</a:t>
            </a:r>
            <a:endParaRPr lang="en-US" sz="15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689" y="2604393"/>
            <a:ext cx="1945234" cy="952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706129" y="3217366"/>
            <a:ext cx="1626353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/ SDLC Support</a:t>
            </a:r>
            <a:endParaRPr lang="en-US" sz="1550" dirty="0"/>
          </a:p>
        </p:txBody>
      </p:sp>
      <p:sp>
        <p:nvSpPr>
          <p:cNvPr id="22" name="Shape 13"/>
          <p:cNvSpPr/>
          <p:nvPr/>
        </p:nvSpPr>
        <p:spPr>
          <a:xfrm>
            <a:off x="7467016" y="4026396"/>
            <a:ext cx="4024906" cy="509786"/>
          </a:xfrm>
          <a:prstGeom prst="roundRect">
            <a:avLst>
              <a:gd name="adj" fmla="val 13140"/>
            </a:avLst>
          </a:prstGeom>
          <a:solidFill>
            <a:srgbClr val="FCF2B5"/>
          </a:solidFill>
          <a:ln/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457" y="4208959"/>
            <a:ext cx="159441" cy="12749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945338" y="4187230"/>
            <a:ext cx="3996729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BoB is NOT the runtime decision engine.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2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/ Value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51545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Practical value for disruption decision-making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89423"/>
            <a:ext cx="378014" cy="378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503686"/>
            <a:ext cx="198472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Understanding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207643"/>
            <a:ext cx="1984722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Quickly see disruption impact and affected shipments.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2431" y="1889423"/>
            <a:ext cx="378014" cy="378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82431" y="2503686"/>
            <a:ext cx="198472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Clear Prioritization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2882431" y="3207643"/>
            <a:ext cx="1984722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consistent, explainable rules to surface urgency.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3387" y="1889423"/>
            <a:ext cx="378014" cy="3780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03387" y="2503686"/>
            <a:ext cx="19848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Comparison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5103387" y="3207643"/>
            <a:ext cx="1984821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rerouting options using relevant trade-offs.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4443" y="1889423"/>
            <a:ext cx="378014" cy="3780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24443" y="2503686"/>
            <a:ext cx="198472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Explainable Recommendation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324443" y="3207643"/>
            <a:ext cx="1984722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why an option is suggested.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5399" y="1889423"/>
            <a:ext cx="378014" cy="3780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45399" y="2503686"/>
            <a:ext cx="19848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 Control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9545399" y="2912368"/>
            <a:ext cx="1984821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 can approve or override recommendations.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11352"/>
            <a:ext cx="378014" cy="37802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1475" y="4925616"/>
            <a:ext cx="19847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Traceability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661475" y="5334298"/>
            <a:ext cx="1984722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are recorded for later review.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661475" y="6030714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ShipTriage turns disruption response into a structured, explainable decision workflow.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74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 &amp; Future Scope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831578"/>
            <a:ext cx="5476043" cy="3614341"/>
          </a:xfrm>
          <a:prstGeom prst="roundRect">
            <a:avLst>
              <a:gd name="adj" fmla="val 3765"/>
            </a:avLst>
          </a:prstGeom>
          <a:solidFill>
            <a:srgbClr val="EAF2FF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020590"/>
            <a:ext cx="509802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4357" y="2564011"/>
            <a:ext cx="5098029" cy="2749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uses simulated shipment and disruption data.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live carrier or logistics-data integrations.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GPS tracking.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ML-based disruption prediction.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routing support is a structured comparison, not advanced route optimization.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Fleet-level optimization and IoT/cold-chain monitoring are not part of the current MVP.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6651" y="1831578"/>
            <a:ext cx="5476043" cy="3614341"/>
          </a:xfrm>
          <a:prstGeom prst="roundRect">
            <a:avLst>
              <a:gd name="adj" fmla="val 3765"/>
            </a:avLst>
          </a:prstGeom>
          <a:solidFill>
            <a:srgbClr val="E8FBF8"/>
          </a:solidFill>
          <a:ln/>
        </p:spPr>
      </p:sp>
      <p:sp>
        <p:nvSpPr>
          <p:cNvPr id="7" name="Text 5"/>
          <p:cNvSpPr/>
          <p:nvPr/>
        </p:nvSpPr>
        <p:spPr>
          <a:xfrm>
            <a:off x="6385658" y="2020590"/>
            <a:ext cx="509802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85658" y="2564011"/>
            <a:ext cx="5098029" cy="281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real-time logistics data.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real carrier APIs.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live GPS / tracking feeds.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ML-based disruption prediction.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more advanced route optimization.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to fleet-level optimization.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IoT / cold-chain monitoring and excursion severity support.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6682" y="5658545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MVP ≠ Future Scope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8409"/>
            <a:ext cx="1073421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65063"/>
            <a:ext cx="145619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SHIPTRIAGE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71153"/>
            <a:ext cx="10868745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Turns a supply-chain disruption into a structured, explainable decision workflow.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356682" y="3700165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Disruption → Triage → Decision → Logged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4201914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45580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661475" y="5432127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CargoMind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BoB AI Innovation Hackathon 2026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676</Words>
  <Application>Microsoft Office PowerPoint</Application>
  <PresentationFormat>Widescreen</PresentationFormat>
  <Paragraphs>173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KHUSHI PATEL</cp:lastModifiedBy>
  <cp:revision>1</cp:revision>
  <dcterms:created xsi:type="dcterms:W3CDTF">2026-09-15T09:24:17Z</dcterms:created>
  <dcterms:modified xsi:type="dcterms:W3CDTF">2026-09-15T13:53:09Z</dcterms:modified>
</cp:coreProperties>
</file>